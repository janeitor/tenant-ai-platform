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44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6241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2/workspace/images/image-742459b4ab2a60e1804dae874cfd8a12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7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0" y="2148840"/>
            <a:ext cx="9144000" cy="2994660"/>
          </a:xfrm>
          <a:prstGeom prst="rect">
            <a:avLst/>
          </a:prstGeom>
          <a:solidFill>
            <a:srgbClr val="0D1117">
              <a:alpha val="86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2"/>
          <p:cNvSpPr/>
          <p:nvPr/>
        </p:nvSpPr>
        <p:spPr>
          <a:xfrm>
            <a:off x="0" y="3108960"/>
            <a:ext cx="9144000" cy="2034540"/>
          </a:xfrm>
          <a:prstGeom prst="rect">
            <a:avLst/>
          </a:prstGeom>
          <a:solidFill>
            <a:srgbClr val="0D1117">
              <a:alpha val="82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548640" y="2377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MÁSTER EN DESARROLLO CON INTELIGENCIA ARTIFICIAL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2697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TenantAI Platform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48640" y="3611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SaaS multi-tenant de Retrieval-Augmented Generation (RAG)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66928" y="4206240"/>
            <a:ext cx="45720" cy="34747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731520" y="41879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    </a:t>
            </a: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Aguilar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0"/>
          </a:xfrm>
          <a:prstGeom prst="line">
            <a:avLst/>
          </a:prstGeom>
          <a:noFill/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organizaciones acumulan grandes volúmenes de documentación interna, difícil de explorar y reutilizar.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3957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DOCUMENTACIÓN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883664" cy="420624"/>
          </a:xfrm>
          <a:prstGeom prst="rect">
            <a:avLst/>
          </a:prstGeom>
          <a:solidFill>
            <a:srgbClr val="151D2B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51176" y="2743200"/>
            <a:ext cx="1883664" cy="420624"/>
          </a:xfrm>
          <a:prstGeom prst="rect">
            <a:avLst/>
          </a:prstGeom>
          <a:solidFill>
            <a:srgbClr val="151D2B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2642616" y="2743200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1883664" cy="420624"/>
          </a:xfrm>
          <a:prstGeom prst="rect">
            <a:avLst/>
          </a:prstGeom>
          <a:solidFill>
            <a:srgbClr val="151D2B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640080" y="328269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51176" y="3282696"/>
            <a:ext cx="1883664" cy="420624"/>
          </a:xfrm>
          <a:prstGeom prst="rect">
            <a:avLst/>
          </a:prstGeom>
          <a:solidFill>
            <a:srgbClr val="151D2B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2642616" y="328269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822192"/>
            <a:ext cx="3886200" cy="420624"/>
          </a:xfrm>
          <a:prstGeom prst="rect">
            <a:avLst/>
          </a:prstGeom>
          <a:solidFill>
            <a:srgbClr val="151D2B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1417320"/>
            <a:ext cx="3886200" cy="320040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4709160" y="1417320"/>
            <a:ext cx="3886200" cy="45720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4937760" y="15910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Problemáticas detectadas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37760" y="2075688"/>
            <a:ext cx="100584" cy="100584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5138928" y="198424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dispersa
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silos de conocimiento sin un punto único de acceso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2715768"/>
            <a:ext cx="100584" cy="100584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5138928" y="262432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Búsquedas manuales lentas
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perdidas localizando un dato puntual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3355848"/>
            <a:ext cx="100584" cy="100584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5138928" y="326440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difícil de reutilizar
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contenido no se transforma en respuestas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0" y="3995928"/>
            <a:ext cx="100584" cy="100584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5138928" y="390448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del experto
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saber crítico vive solo en las personas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828032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TenantAI Platform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80960" y="4736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0"/>
          </a:xfrm>
          <a:prstGeom prst="line">
            <a:avLst/>
          </a:prstGeom>
          <a:noFill/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 del proyecto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una plataforma SaaS multi-tenant </a:t>
            </a:r>
            <a:r>
              <a:rPr lang="en-US" sz="15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capaz de gestionar conocimiento empresarial y responder consultas mediante RAG, expuesta como API.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448410" cy="214884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144841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14484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21792" y="3054096"/>
            <a:ext cx="1302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Almacenar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8368" y="3419856"/>
            <a:ext cx="1228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empresarial por tenant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98218" y="2286000"/>
            <a:ext cx="1448410" cy="214884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2198218" y="2286000"/>
            <a:ext cx="144841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2198218" y="2468880"/>
            <a:ext cx="14484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271370" y="3054096"/>
            <a:ext cx="1302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Vectorizar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307946" y="3419856"/>
            <a:ext cx="1228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embeddings semánticos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7795" y="2286000"/>
            <a:ext cx="1448410" cy="214884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3847795" y="2286000"/>
            <a:ext cx="144841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3847795" y="2468880"/>
            <a:ext cx="14484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920947" y="3054096"/>
            <a:ext cx="1302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Recuperar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957523" y="3419856"/>
            <a:ext cx="1228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relevante con búsqueda vectorial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97373" y="2286000"/>
            <a:ext cx="1448410" cy="214884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5497373" y="2286000"/>
            <a:ext cx="144841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5497373" y="2468880"/>
            <a:ext cx="14484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70525" y="3054096"/>
            <a:ext cx="1302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Responder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607101" y="3419856"/>
            <a:ext cx="1228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mediante el pipeline RAG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46950" y="2286000"/>
            <a:ext cx="1448410" cy="214884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7146950" y="2286000"/>
            <a:ext cx="144841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7146950" y="2468880"/>
            <a:ext cx="14484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220102" y="3054096"/>
            <a:ext cx="1302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Integrar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256678" y="3419856"/>
            <a:ext cx="1228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exponer una API para sistemas externos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828032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TenantAI Platform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80960" y="4736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0"/>
          </a:xfrm>
          <a:prstGeom prst="line">
            <a:avLst/>
          </a:prstGeom>
          <a:noFill/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SOLUCIÓN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general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723644" cy="178308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1723644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640080" y="1755648"/>
            <a:ext cx="1540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49424"/>
            <a:ext cx="15407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Next.js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intranet del cliente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35708" y="1572768"/>
            <a:ext cx="457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6332" y="1572768"/>
            <a:ext cx="1723644" cy="178308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2656332" y="1572768"/>
            <a:ext cx="1723644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2747772" y="1755648"/>
            <a:ext cx="1540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7772" y="2249424"/>
            <a:ext cx="15407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· Auth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· Tenant Resolver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43400" y="1572768"/>
            <a:ext cx="457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764024" y="1572768"/>
            <a:ext cx="1723644" cy="178308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4764024" y="1572768"/>
            <a:ext cx="1723644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4855464" y="1755648"/>
            <a:ext cx="1540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Núcleo RAG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55464" y="2249424"/>
            <a:ext cx="15407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· Embeddings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contexto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51092" y="1572768"/>
            <a:ext cx="457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871716" y="1572768"/>
            <a:ext cx="1723644" cy="178308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6871716" y="1572768"/>
            <a:ext cx="1723644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6963156" y="1755648"/>
            <a:ext cx="1540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 &amp; IA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2249424"/>
            <a:ext cx="15407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352958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 </a:t>
            </a: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generada con fuentes citadas, siempre acotada al tenant que realiza la consulta.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041648"/>
            <a:ext cx="1860804" cy="457200"/>
          </a:xfrm>
          <a:prstGeom prst="rect">
            <a:avLst/>
          </a:prstGeom>
          <a:solidFill>
            <a:srgbClr val="151D2B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640080" y="4041648"/>
            <a:ext cx="16779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First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610612" y="4041648"/>
            <a:ext cx="1860804" cy="457200"/>
          </a:xfrm>
          <a:prstGeom prst="rect">
            <a:avLst/>
          </a:prstGeom>
          <a:solidFill>
            <a:srgbClr val="151D2B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2702052" y="4041648"/>
            <a:ext cx="16779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72584" y="4041648"/>
            <a:ext cx="1860804" cy="457200"/>
          </a:xfrm>
          <a:prstGeom prst="rect">
            <a:avLst/>
          </a:prstGeom>
          <a:solidFill>
            <a:srgbClr val="151D2B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4764024" y="4041648"/>
            <a:ext cx="16779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734556" y="4041648"/>
            <a:ext cx="1860804" cy="457200"/>
          </a:xfrm>
          <a:prstGeom prst="rect">
            <a:avLst/>
          </a:prstGeom>
          <a:solidFill>
            <a:srgbClr val="151D2B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6825996" y="4041648"/>
            <a:ext cx="16779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Front / Back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4828032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TenantAI Platform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680960" y="4736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0"/>
          </a:xfrm>
          <a:prstGeom prst="line">
            <a:avLst/>
          </a:prstGeom>
          <a:noFill/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tecnológico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886200" cy="54864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864" cy="54864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768096" y="1481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148132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07692"/>
            <a:ext cx="3886200" cy="54864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548640" y="2107692"/>
            <a:ext cx="54864" cy="54864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768096" y="21076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21076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+ TypeScript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734056"/>
            <a:ext cx="3886200" cy="54864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548640" y="2734056"/>
            <a:ext cx="54864" cy="54864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768096" y="273405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31720" y="273405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360420"/>
            <a:ext cx="3886200" cy="54864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548640" y="3360420"/>
            <a:ext cx="54864" cy="54864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768096" y="33604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31720" y="33604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986784"/>
            <a:ext cx="3886200" cy="54864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548640" y="3986784"/>
            <a:ext cx="54864" cy="54864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768096" y="398678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31720" y="398678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09160" y="1481328"/>
            <a:ext cx="3886200" cy="54864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4709160" y="1481328"/>
            <a:ext cx="54864" cy="54864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4928616" y="1481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/ LLM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148132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(local)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09160" y="2107692"/>
            <a:ext cx="3886200" cy="54864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4709160" y="2107692"/>
            <a:ext cx="54864" cy="54864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4928616" y="210769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21076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/ S3 · R2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709160" y="2734056"/>
            <a:ext cx="3886200" cy="54864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4709160" y="2734056"/>
            <a:ext cx="54864" cy="54864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4928616" y="273405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92240" y="273405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+ Redis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709160" y="3360420"/>
            <a:ext cx="3886200" cy="54864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Shape 36"/>
          <p:cNvSpPr/>
          <p:nvPr/>
        </p:nvSpPr>
        <p:spPr>
          <a:xfrm>
            <a:off x="4709160" y="3360420"/>
            <a:ext cx="54864" cy="54864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4928616" y="33604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92240" y="33604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· Cloudflare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709160" y="3986784"/>
            <a:ext cx="3886200" cy="54864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Shape 40"/>
          <p:cNvSpPr/>
          <p:nvPr/>
        </p:nvSpPr>
        <p:spPr>
          <a:xfrm>
            <a:off x="4709160" y="3986784"/>
            <a:ext cx="54864" cy="54864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4928616" y="398678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92240" y="398678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CI GitHub Actions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457200" y="4828032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6" name="Text 44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TenantAI Platform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680960" y="4736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0"/>
          </a:xfrm>
          <a:prstGeom prst="line">
            <a:avLst/>
          </a:prstGeom>
          <a:noFill/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RAG: ingesta y consulta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4630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749040" cy="393192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4864" cy="39319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694944" y="1783080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1783080"/>
            <a:ext cx="3035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(TXT / PDF)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267712"/>
            <a:ext cx="3749040" cy="393192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548640" y="2267712"/>
            <a:ext cx="54864" cy="39319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94944" y="2267712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2267712"/>
            <a:ext cx="3035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texto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752344"/>
            <a:ext cx="3749040" cy="393192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548640" y="2752344"/>
            <a:ext cx="54864" cy="39319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94944" y="2752344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5568" y="2752344"/>
            <a:ext cx="3035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con solapamiento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236976"/>
            <a:ext cx="3749040" cy="393192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548640" y="3236976"/>
            <a:ext cx="54864" cy="39319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94944" y="3236976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5568" y="3236976"/>
            <a:ext cx="3035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embeddings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3721608"/>
            <a:ext cx="3749040" cy="393192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548640" y="3721608"/>
            <a:ext cx="54864" cy="39319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694944" y="3721608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15568" y="3721608"/>
            <a:ext cx="3035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Almacenado en pgvector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846320" y="1783080"/>
            <a:ext cx="3749040" cy="393192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4846320" y="1783080"/>
            <a:ext cx="54864" cy="39319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4992624" y="1783080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13248" y="1783080"/>
            <a:ext cx="3035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del usuario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846320" y="2267712"/>
            <a:ext cx="3749040" cy="393192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4846320" y="2267712"/>
            <a:ext cx="54864" cy="39319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4992624" y="2267712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13248" y="2267712"/>
            <a:ext cx="3035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de la consulta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846320" y="2752344"/>
            <a:ext cx="3749040" cy="393192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Shape 34"/>
          <p:cNvSpPr/>
          <p:nvPr/>
        </p:nvSpPr>
        <p:spPr>
          <a:xfrm>
            <a:off x="4846320" y="2752344"/>
            <a:ext cx="54864" cy="39319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4992624" y="2752344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13248" y="2752344"/>
            <a:ext cx="3035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semántica (coseno)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846320" y="3236976"/>
            <a:ext cx="3749040" cy="393192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Shape 38"/>
          <p:cNvSpPr/>
          <p:nvPr/>
        </p:nvSpPr>
        <p:spPr>
          <a:xfrm>
            <a:off x="4846320" y="3236976"/>
            <a:ext cx="54864" cy="39319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4992624" y="3236976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13248" y="3236976"/>
            <a:ext cx="3035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contexto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4846320" y="3721608"/>
            <a:ext cx="3749040" cy="393192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Shape 42"/>
          <p:cNvSpPr/>
          <p:nvPr/>
        </p:nvSpPr>
        <p:spPr>
          <a:xfrm>
            <a:off x="4846320" y="3721608"/>
            <a:ext cx="54864" cy="39319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/>
          <p:nvPr/>
        </p:nvSpPr>
        <p:spPr>
          <a:xfrm>
            <a:off x="4992624" y="3721608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413248" y="3721608"/>
            <a:ext cx="3035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846320" y="4206240"/>
            <a:ext cx="3749040" cy="393192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8" name="Shape 46"/>
          <p:cNvSpPr/>
          <p:nvPr/>
        </p:nvSpPr>
        <p:spPr>
          <a:xfrm>
            <a:off x="4846320" y="4206240"/>
            <a:ext cx="54864" cy="39319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9" name="Text 47"/>
          <p:cNvSpPr/>
          <p:nvPr/>
        </p:nvSpPr>
        <p:spPr>
          <a:xfrm>
            <a:off x="4992624" y="4206240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413248" y="4206240"/>
            <a:ext cx="3035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+ fuentes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457200" y="4828032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2" name="Text 50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TenantAI Platform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680960" y="4736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0"/>
          </a:xfrm>
          <a:prstGeom prst="line">
            <a:avLst/>
          </a:prstGeom>
          <a:noFill/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POR DISEÑO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Multi-Tenant y seguridad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00584" cy="1005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749808" y="142646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autenticación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para integraciones · JWT para el panel admin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185416"/>
            <a:ext cx="100584" cy="1005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749808" y="2093976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por tenant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entidad y consulta filtra por tenantId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100584" cy="1005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con hash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+ pepper; se muestran una sola vez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100584" cy="1005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749808" y="342900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acceso cross-tenant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tenant se resuelve desde la credencial, nunca del cliente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187952"/>
            <a:ext cx="100584" cy="1005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749808" y="409651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self-service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validación de DTOs y secretos por entorno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74920" y="1417320"/>
            <a:ext cx="3520440" cy="320040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5074920" y="1417320"/>
            <a:ext cx="352044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7" name="Image 0" descr="/agent/turn2/workspace/images/image-657431ae1385a60323e24a332f9313a5.jpg"/>
          <p:cNvPicPr>
            <a:picLocks noChangeAspect="1"/>
          </p:cNvPicPr>
          <p:nvPr/>
        </p:nvPicPr>
        <p:blipFill>
          <a:blip r:embed="rId3"/>
          <a:srcRect l="1503" r="1503"/>
          <a:stretch/>
        </p:blipFill>
        <p:spPr>
          <a:xfrm>
            <a:off x="5138928" y="1481328"/>
            <a:ext cx="3392424" cy="23317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230368" y="388620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tenant opera en su propio repositorio lógico, aislado del resto.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" y="4828032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TenantAI Platform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680960" y="4736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0"/>
          </a:xfrm>
          <a:prstGeom prst="line">
            <a:avLst/>
          </a:prstGeom>
          <a:noFill/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TENANT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Panel administrativo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18488"/>
            <a:ext cx="100584" cy="1005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749808" y="1517904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del tenant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generales y actividad reciente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100584" cy="1005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y chunks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procesado y disponible para retrieval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118104"/>
            <a:ext cx="100584" cy="1005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749808" y="301752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consultas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 cada interacción RAG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867912"/>
            <a:ext cx="100584" cy="1005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749808" y="376732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operacional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del estado del tenant en un vistazo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892040" y="1481328"/>
            <a:ext cx="3703320" cy="3108960"/>
          </a:xfrm>
          <a:prstGeom prst="rect">
            <a:avLst/>
          </a:prstGeom>
          <a:solidFill>
            <a:srgbClr val="16203A"/>
          </a:solidFill>
          <a:ln w="15875">
            <a:solidFill>
              <a:srgbClr val="22D3E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4892040" y="1481328"/>
            <a:ext cx="3703320" cy="310896"/>
          </a:xfrm>
          <a:prstGeom prst="rect">
            <a:avLst/>
          </a:prstGeom>
          <a:solidFill>
            <a:srgbClr val="151D2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5038344" y="1581912"/>
            <a:ext cx="109728" cy="109728"/>
          </a:xfrm>
          <a:prstGeom prst="ellipse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5202936" y="1581912"/>
            <a:ext cx="109728" cy="109728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5367528" y="1581912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Captura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040" y="2333806"/>
            <a:ext cx="3583320" cy="1714900"/>
          </a:xfrm>
          <a:prstGeom prst="rect">
            <a:avLst/>
          </a:prstGeom>
          <a:ln w="9525">
            <a:solidFill>
              <a:srgbClr val="2E3C58"/>
            </a:solidFill>
          </a:ln>
        </p:spPr>
      </p:pic>
      <p:sp>
        <p:nvSpPr>
          <p:cNvPr id="20" name="Shape 18"/>
          <p:cNvSpPr/>
          <p:nvPr/>
        </p:nvSpPr>
        <p:spPr>
          <a:xfrm>
            <a:off x="457200" y="4828032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TenantAI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736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0"/>
          </a:xfrm>
          <a:prstGeom prst="line">
            <a:avLst/>
          </a:prstGeom>
          <a:noFill/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DOCUMENTAL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documental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892040" y="1618488"/>
            <a:ext cx="100584" cy="10058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093208" y="1517904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TXT y PDF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 directa desde el panel, máx. 5 MB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892040" y="2368296"/>
            <a:ext cx="100584" cy="10058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093208" y="226771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automático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extracción, chunking y embeddings asíncronos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892040" y="3118104"/>
            <a:ext cx="100584" cy="10058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5093208" y="301752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con BullMQ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worker procesa el documento en segundo plano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1481328"/>
            <a:ext cx="3703320" cy="3108960"/>
          </a:xfrm>
          <a:prstGeom prst="rect">
            <a:avLst/>
          </a:prstGeom>
          <a:solidFill>
            <a:srgbClr val="16203A"/>
          </a:solidFill>
          <a:ln w="15875">
            <a:solidFill>
              <a:srgbClr val="22D3E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548640" y="1481328"/>
            <a:ext cx="3703320" cy="310896"/>
          </a:xfrm>
          <a:prstGeom prst="rect">
            <a:avLst/>
          </a:prstGeom>
          <a:solidFill>
            <a:srgbClr val="151D2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94944" y="1581912"/>
            <a:ext cx="109728" cy="109728"/>
          </a:xfrm>
          <a:prstGeom prst="ellipse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859536" y="1581912"/>
            <a:ext cx="109728" cy="109728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1024128" y="1581912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6" name="Captura Documen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0" y="2326806"/>
            <a:ext cx="3583320" cy="1728900"/>
          </a:xfrm>
          <a:prstGeom prst="rect">
            <a:avLst/>
          </a:prstGeom>
          <a:ln w="9525">
            <a:solidFill>
              <a:srgbClr val="2E3C58"/>
            </a:solidFill>
          </a:ln>
        </p:spPr>
      </p:pic>
      <p:sp>
        <p:nvSpPr>
          <p:cNvPr id="18" name="Shape 16"/>
          <p:cNvSpPr/>
          <p:nvPr/>
        </p:nvSpPr>
        <p:spPr>
          <a:xfrm>
            <a:off x="457200" y="4828032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TenantAI Platform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80960" y="4736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8221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DEL DOCUMENTO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4133088"/>
            <a:ext cx="868680" cy="420624"/>
          </a:xfrm>
          <a:prstGeom prst="rect">
            <a:avLst/>
          </a:prstGeom>
          <a:solidFill>
            <a:srgbClr val="151D2B"/>
          </a:solidFill>
          <a:ln w="15875">
            <a:solidFill>
              <a:srgbClr val="9AA7B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4892040" y="413308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36615" y="4133088"/>
            <a:ext cx="868680" cy="420624"/>
          </a:xfrm>
          <a:prstGeom prst="rect">
            <a:avLst/>
          </a:prstGeom>
          <a:solidFill>
            <a:srgbClr val="151D2B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5836615" y="413308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81190" y="4133088"/>
            <a:ext cx="868680" cy="420624"/>
          </a:xfrm>
          <a:prstGeom prst="rect">
            <a:avLst/>
          </a:prstGeom>
          <a:solidFill>
            <a:srgbClr val="151D2B"/>
          </a:solidFill>
          <a:ln w="1587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6781190" y="413308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25766" y="4133088"/>
            <a:ext cx="868680" cy="420624"/>
          </a:xfrm>
          <a:prstGeom prst="rect">
            <a:avLst/>
          </a:prstGeom>
          <a:solidFill>
            <a:srgbClr val="151D2B"/>
          </a:solidFill>
          <a:ln w="15875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7725766" y="413308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0"/>
          </a:xfrm>
          <a:prstGeom prst="line">
            <a:avLst/>
          </a:prstGeom>
          <a:noFill/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First e integración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18488"/>
            <a:ext cx="100584" cy="1005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749808" y="1517904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autónomas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tenant genera sus API Keys desde el panel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100584" cy="1005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vía HTTP REST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/api/ask con header x-api-key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118104"/>
            <a:ext cx="100584" cy="1005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749808" y="301752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desacoplado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vive server-side, nunca en el navegador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867912"/>
            <a:ext cx="100584" cy="1005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749808" y="376732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stack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Postman, backends o serverless externos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892040" y="1481328"/>
            <a:ext cx="3703320" cy="3108960"/>
          </a:xfrm>
          <a:prstGeom prst="rect">
            <a:avLst/>
          </a:prstGeom>
          <a:solidFill>
            <a:srgbClr val="16203A"/>
          </a:solidFill>
          <a:ln w="15875">
            <a:solidFill>
              <a:srgbClr val="22D3E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4892040" y="1481328"/>
            <a:ext cx="3703320" cy="310896"/>
          </a:xfrm>
          <a:prstGeom prst="rect">
            <a:avLst/>
          </a:prstGeom>
          <a:solidFill>
            <a:srgbClr val="151D2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5038344" y="1581912"/>
            <a:ext cx="109728" cy="109728"/>
          </a:xfrm>
          <a:prstGeom prst="ellipse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5202936" y="1581912"/>
            <a:ext cx="109728" cy="109728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5367528" y="1581912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Captura API Key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040" y="2328533"/>
            <a:ext cx="3583320" cy="1725446"/>
          </a:xfrm>
          <a:prstGeom prst="rect">
            <a:avLst/>
          </a:prstGeom>
          <a:ln w="9525">
            <a:solidFill>
              <a:srgbClr val="2E3C58"/>
            </a:solidFill>
          </a:ln>
        </p:spPr>
      </p:pic>
      <p:sp>
        <p:nvSpPr>
          <p:cNvPr id="20" name="Shape 18"/>
          <p:cNvSpPr/>
          <p:nvPr/>
        </p:nvSpPr>
        <p:spPr>
          <a:xfrm>
            <a:off x="457200" y="4828032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TenantAI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736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0"/>
          </a:xfrm>
          <a:prstGeom prst="line">
            <a:avLst/>
          </a:prstGeom>
          <a:noFill/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 ACCIÓN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Consulta basada en contexto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892040" y="1618488"/>
            <a:ext cx="100584" cy="10058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093208" y="1517904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semántica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con los chunks más relevantes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892040" y="2368296"/>
            <a:ext cx="100584" cy="10058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093208" y="226771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datos del tenant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 nunca cruza entre clientes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892040" y="3118104"/>
            <a:ext cx="100584" cy="10058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5093208" y="301752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con fuentes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respuesta cita el documento de origen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892040" y="3867912"/>
            <a:ext cx="100584" cy="10058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5093208" y="376732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alucinaciones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responde acotado al contexto recuperado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1481328"/>
            <a:ext cx="3703320" cy="3108960"/>
          </a:xfrm>
          <a:prstGeom prst="rect">
            <a:avLst/>
          </a:prstGeom>
          <a:solidFill>
            <a:srgbClr val="16203A"/>
          </a:solidFill>
          <a:ln w="15875">
            <a:solidFill>
              <a:srgbClr val="22D3E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548640" y="1481328"/>
            <a:ext cx="3703320" cy="310896"/>
          </a:xfrm>
          <a:prstGeom prst="rect">
            <a:avLst/>
          </a:prstGeom>
          <a:solidFill>
            <a:srgbClr val="151D2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694944" y="1581912"/>
            <a:ext cx="109728" cy="109728"/>
          </a:xfrm>
          <a:prstGeom prst="ellipse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859536" y="1581912"/>
            <a:ext cx="109728" cy="109728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1024128" y="1581912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Captura Consulta en contex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0" y="2347923"/>
            <a:ext cx="3583320" cy="1686665"/>
          </a:xfrm>
          <a:prstGeom prst="rect">
            <a:avLst/>
          </a:prstGeom>
          <a:ln w="9525">
            <a:solidFill>
              <a:srgbClr val="2E3C58"/>
            </a:solidFill>
          </a:ln>
        </p:spPr>
      </p:pic>
      <p:sp>
        <p:nvSpPr>
          <p:cNvPr id="20" name="Shape 18"/>
          <p:cNvSpPr/>
          <p:nvPr/>
        </p:nvSpPr>
        <p:spPr>
          <a:xfrm>
            <a:off x="457200" y="4828032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TenantAI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736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0"/>
          </a:xfrm>
          <a:prstGeom prst="line">
            <a:avLst/>
          </a:prstGeom>
          <a:noFill/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 Y COSTOS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de alucinaciones y costos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no existe contexto relevante para la pregunta, el sistema corta el flujo antes de llamar al modelo.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874520" cy="86868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87452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95728" y="21488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52928" y="2148840"/>
            <a:ext cx="1874520" cy="86868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2852928" y="2148840"/>
            <a:ext cx="187452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2852928" y="21488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¿Hay contexto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relevante?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27448" y="176479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40680" y="1728216"/>
            <a:ext cx="3154680" cy="713232"/>
          </a:xfrm>
          <a:prstGeom prst="rect">
            <a:avLst/>
          </a:prstGeom>
          <a:solidFill>
            <a:srgbClr val="1B2741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5532120" y="1728216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al LLM y responde con fuentes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27448" y="262432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40680" y="2606040"/>
            <a:ext cx="3154680" cy="713232"/>
          </a:xfrm>
          <a:prstGeom prst="rect">
            <a:avLst/>
          </a:prstGeom>
          <a:solidFill>
            <a:srgbClr val="1B2741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5532120" y="2606040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controlada · no se consume el LLM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2548128" cy="960120"/>
          </a:xfrm>
          <a:prstGeom prst="rect">
            <a:avLst/>
          </a:prstGeom>
          <a:solidFill>
            <a:srgbClr val="16203A"/>
          </a:solidFill>
          <a:ln w="12700">
            <a:solidFill>
              <a:srgbClr val="2E3C58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2548128" cy="45720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76656" y="3730752"/>
            <a:ext cx="2292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tokens innecesarios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" y="4041648"/>
            <a:ext cx="2292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gasta en preguntas fuera de dominio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7936" y="3611880"/>
            <a:ext cx="2548128" cy="960120"/>
          </a:xfrm>
          <a:prstGeom prst="rect">
            <a:avLst/>
          </a:prstGeom>
          <a:solidFill>
            <a:srgbClr val="16203A"/>
          </a:solidFill>
          <a:ln w="12700">
            <a:solidFill>
              <a:srgbClr val="2E3C58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3297936" y="3611880"/>
            <a:ext cx="2548128" cy="45720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3425952" y="3730752"/>
            <a:ext cx="2292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respuestas inventadas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25952" y="4041648"/>
            <a:ext cx="2292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afirmar lo que no está en los documentos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47232" y="3611880"/>
            <a:ext cx="2548128" cy="960120"/>
          </a:xfrm>
          <a:prstGeom prst="rect">
            <a:avLst/>
          </a:prstGeom>
          <a:solidFill>
            <a:srgbClr val="16203A"/>
          </a:solidFill>
          <a:ln w="12700">
            <a:solidFill>
              <a:srgbClr val="2E3C58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6047232" y="3611880"/>
            <a:ext cx="2548128" cy="45720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6175248" y="3730752"/>
            <a:ext cx="2292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Mayor confiabilidad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75248" y="4041648"/>
            <a:ext cx="2292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admite cuándo no puede responder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828032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TenantAI Platform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80960" y="4736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0"/>
          </a:xfrm>
          <a:prstGeom prst="line">
            <a:avLst/>
          </a:prstGeom>
          <a:noFill/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Observabilidad y métricas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18488"/>
            <a:ext cx="100584" cy="1005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749808" y="1517904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y proveedor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motor de IA respondió cada consulta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100584" cy="1005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consumidos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entrada, salida y total cuando aplica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118104"/>
            <a:ext cx="100584" cy="1005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749808" y="301752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utilizados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efectivo enviado al modelo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867912"/>
            <a:ext cx="100584" cy="1005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749808" y="376732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por tenant
</a:t>
            </a:r>
            <a:endParaRPr lang="en-US" sz="13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recientes con filtros por fecha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892040" y="1481328"/>
            <a:ext cx="3703320" cy="3108960"/>
          </a:xfrm>
          <a:prstGeom prst="rect">
            <a:avLst/>
          </a:prstGeom>
          <a:solidFill>
            <a:srgbClr val="16203A"/>
          </a:solidFill>
          <a:ln w="15875">
            <a:solidFill>
              <a:srgbClr val="22D3E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4892040" y="1481328"/>
            <a:ext cx="3703320" cy="310896"/>
          </a:xfrm>
          <a:prstGeom prst="rect">
            <a:avLst/>
          </a:prstGeom>
          <a:solidFill>
            <a:srgbClr val="151D2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5038344" y="1581912"/>
            <a:ext cx="109728" cy="109728"/>
          </a:xfrm>
          <a:prstGeom prst="ellipse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5202936" y="1581912"/>
            <a:ext cx="109728" cy="109728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5367528" y="1581912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Captura Metric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040" y="2676856"/>
            <a:ext cx="3583320" cy="1028800"/>
          </a:xfrm>
          <a:prstGeom prst="rect">
            <a:avLst/>
          </a:prstGeom>
          <a:ln w="9525">
            <a:solidFill>
              <a:srgbClr val="2E3C58"/>
            </a:solidFill>
          </a:ln>
        </p:spPr>
      </p:pic>
      <p:sp>
        <p:nvSpPr>
          <p:cNvPr id="20" name="Shape 18"/>
          <p:cNvSpPr/>
          <p:nvPr/>
        </p:nvSpPr>
        <p:spPr>
          <a:xfrm>
            <a:off x="457200" y="4828032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TenantAI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736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0"/>
          </a:xfrm>
          <a:prstGeom prst="line">
            <a:avLst/>
          </a:prstGeom>
          <a:noFill/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FUNCIONAMIENTO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Demostración práctica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703320" cy="3108960"/>
          </a:xfrm>
          <a:prstGeom prst="rect">
            <a:avLst/>
          </a:prstGeom>
          <a:solidFill>
            <a:srgbClr val="16203A"/>
          </a:solidFill>
          <a:ln w="12700">
            <a:solidFill>
              <a:srgbClr val="2E3C58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70332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2075688" y="2148840"/>
            <a:ext cx="868680" cy="868680"/>
          </a:xfrm>
          <a:prstGeom prst="ellipse">
            <a:avLst/>
          </a:prstGeom>
          <a:solidFill>
            <a:srgbClr val="22D3EE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2075688" y="215798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docs/MBS_Tenant_RAG.mp4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58444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que recorre el flujo completo de la solución desplegada en la nube.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17720" y="14813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video muestra: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1956816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568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un nuevo tenant e inicio de sesión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17720" y="2331720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API Keys desde el panel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17720" y="2706624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7066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 ingesta de documentos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17720" y="3081528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0815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consultas RAG con fuentes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17720" y="345643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4564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sin contexto relevante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17720" y="3831336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8313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la API desde Postman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17720" y="4206240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42062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desplegada y operando en la nube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4828032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TenantAI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0" y="4736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0"/>
          </a:xfrm>
          <a:prstGeom prst="line">
            <a:avLst/>
          </a:prstGeom>
          <a:noFill/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 y trabajo futuro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886200" cy="310896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886200" cy="457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 obtenidos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78992" y="21031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SaaS multi-tenant funcional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49631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78992" y="24963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cloud operativo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88950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78992" y="28895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RAG empresarial con fuentes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282696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78992" y="32826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API First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67588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8992" y="36758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y métricas de uso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06908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78992" y="40690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de información por tenant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1481328"/>
            <a:ext cx="3886200" cy="3108960"/>
          </a:xfrm>
          <a:prstGeom prst="rect">
            <a:avLst/>
          </a:prstGeom>
          <a:solidFill>
            <a:srgbClr val="1B2741"/>
          </a:solidFill>
          <a:ln w="12700">
            <a:solidFill>
              <a:srgbClr val="2E3C58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4709160" y="1481328"/>
            <a:ext cx="388620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493776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Trabajo futuro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2203704"/>
            <a:ext cx="109728" cy="10972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5175504" y="21031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para documentos escaneados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2596896"/>
            <a:ext cx="109728" cy="10972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5175504" y="24963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y control de costos por consumo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2990088"/>
            <a:ext cx="109728" cy="10972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5175504" y="288950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avanzado y Row-Level Security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0" y="3383280"/>
            <a:ext cx="109728" cy="10972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5175504" y="328269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proveedores LLM (Gemini)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3776472"/>
            <a:ext cx="109728" cy="10972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5175504" y="36758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 empresariales (ERP)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4169664"/>
            <a:ext cx="109728" cy="10972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5175504" y="40690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de chunks con KMS / Key Vault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828032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TenantAI Platform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80960" y="4736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982</Words>
  <Application>Microsoft Office PowerPoint</Application>
  <PresentationFormat>Presentación en pantalla (16:9)</PresentationFormat>
  <Paragraphs>278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Aguilar Sepúlveda</dc:creator>
  <cp:lastModifiedBy>Alejandro Aguilar Sepúlveda</cp:lastModifiedBy>
  <cp:revision>1</cp:revision>
  <dcterms:created xsi:type="dcterms:W3CDTF">2026-06-24T06:41:36Z</dcterms:created>
  <dcterms:modified xsi:type="dcterms:W3CDTF">2026-06-24T07:25:18Z</dcterms:modified>
</cp:coreProperties>
</file>